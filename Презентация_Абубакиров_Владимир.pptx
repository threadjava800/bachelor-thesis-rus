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308" r:id="rId2"/>
    <p:sldId id="258" r:id="rId3"/>
    <p:sldId id="300" r:id="rId4"/>
    <p:sldId id="309" r:id="rId5"/>
    <p:sldId id="310" r:id="rId6"/>
    <p:sldId id="311" r:id="rId7"/>
    <p:sldId id="312" r:id="rId8"/>
    <p:sldId id="313" r:id="rId9"/>
    <p:sldId id="314" r:id="rId10"/>
    <p:sldId id="315" r:id="rId11"/>
    <p:sldId id="31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32" y="6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1DCEB-044C-47AD-A5C2-837BA8A40F3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21B811-78A4-45C5-8225-3FA7F25EC4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602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6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6" name="Shape 6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726B91-C86C-E74E-56A4-58AA52C7BE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6EE1E6B-E65A-7267-86A7-D7DFBBB388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421467C-8F08-D43C-2531-41F24F257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25488-4D18-4DAC-B873-9C1C8705E421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60619FB-9A6A-A70B-7A14-13C26F43B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77ECF0F-FD23-4B2D-1B68-E3FE11A11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66DC3-D80C-43B6-8D16-4544078C44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114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454CA0-0E13-0DC0-4D8A-621ADCF4F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9B0FCDE-A6E2-8029-876B-61D9A3590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1E276EF-5AB1-9C47-E5CB-06C101029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25488-4D18-4DAC-B873-9C1C8705E421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490D600-BC1C-020C-4A5B-42CAA970F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028DF4C-3DBA-99EC-A471-5860E7565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66DC3-D80C-43B6-8D16-4544078C44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999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BF588D-1969-580B-A965-5CED1F34C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5FCC900-503B-E00D-6A90-00D0CF3AAB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6CA69DA-9FC6-90B8-F93A-CE25D680F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25488-4D18-4DAC-B873-9C1C8705E421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C7DAC6D-E501-AAF6-8B43-9C59EDE4C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B72F93D-3546-4A01-739A-0E26FF93A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66DC3-D80C-43B6-8D16-4544078C44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949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CCC6A6-4B8E-2318-5282-800DBD73F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B5E7B5-C11C-92C0-D29A-6201418523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AFEBD00-B536-375A-92E3-3036D16525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EBE1FAB-D423-2DF8-9FA9-A1054575B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25488-4D18-4DAC-B873-9C1C8705E421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11902D3-0D4D-901A-0C80-3B0A5026B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DD66A2C-85ED-DF7D-AE32-59B7FC13D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66DC3-D80C-43B6-8D16-4544078C44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570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96004E-0368-333D-29F0-90578DC8D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84829D2-2E68-62D7-D3B8-5022BB43BF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3EDCAC3-2911-78BD-01FE-6E34342DE8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7D5F4BA-4C5B-E282-48BF-457145D5BE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3A91D47-6A4F-20AA-21EA-4B66244BEB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685C9CF-948C-5828-B41F-A5A64B3E7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25488-4D18-4DAC-B873-9C1C8705E421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2097075-BDE3-5F80-23F5-EE26386EE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5C0DED1-D2DD-F5DF-4D75-046FD56CA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66DC3-D80C-43B6-8D16-4544078C44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279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6C16DB-B48B-5C57-AE0F-4042AAC76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4E05B03-DFDA-9262-FA67-7EA8EB596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25488-4D18-4DAC-B873-9C1C8705E421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F13D23F-30B6-F915-BCAA-1E7C2C4BA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C2A6ACD-9F90-A042-7EB5-30CA82156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66DC3-D80C-43B6-8D16-4544078C44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150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214B698-CCBC-6DD5-AD58-51ECAF800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25488-4D18-4DAC-B873-9C1C8705E421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A1D2722-E353-46C7-A95D-1A9EC90D6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083CE87-5D1F-6AF5-D3A3-05B3ACCA0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66DC3-D80C-43B6-8D16-4544078C44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466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D616A6-F1A4-D630-7A60-5C215D2B4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20C9E36-D6E8-7841-A218-0556670A0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2AAA5C9-872D-C15A-BE0B-F4C6CBB5FD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81B650B-35B6-628C-1481-C79BE1D28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25488-4D18-4DAC-B873-9C1C8705E421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7BA55F6-2904-300B-CF12-78C311B5A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6AD1528-5DE3-2FFF-2417-D886DE8BF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66DC3-D80C-43B6-8D16-4544078C44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107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D2B6C4-0925-4FE1-4209-6F208DAE1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0CE4B08-62AB-E963-4BEE-7703250152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1504769-7D19-27CD-1A18-6346179CEE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F7FEE1F-7786-664F-A8B8-FA1E6F24E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25488-4D18-4DAC-B873-9C1C8705E421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FB9276D-577C-E444-015D-FDDCFD6A5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6A28FF3-E508-F950-6DCD-6D6A4E6E0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66DC3-D80C-43B6-8D16-4544078C44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5463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81703F-1BDB-2CAF-FA18-BCD15E41E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4AA36E8-C943-67D1-4236-722F41D86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2F11F80-D813-0C83-BD7B-B0873D66F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25488-4D18-4DAC-B873-9C1C8705E421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4523BFA-C840-3A8A-AC6B-8FD89D205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C12193B-E826-09B7-8937-E46BEDC5D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66DC3-D80C-43B6-8D16-4544078C44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5920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0FFCFE0-1449-8859-2A11-9BF14F9D26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67D8DBC-5142-CF66-C561-9394020E73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32D3AF3-D2B0-4AEE-AFC3-123D76D7A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25488-4D18-4DAC-B873-9C1C8705E421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F493058-36AC-3D77-EBB4-AE9D64CFD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A8F3A86-D33C-0754-8C40-2498A19C4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66DC3-D80C-43B6-8D16-4544078C44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8312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 txBox="1">
            <a:spLocks noGrp="1"/>
          </p:cNvSpPr>
          <p:nvPr>
            <p:ph type="title"/>
          </p:nvPr>
        </p:nvSpPr>
        <p:spPr>
          <a:xfrm>
            <a:off x="433586" y="278607"/>
            <a:ext cx="11379198" cy="1476164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4188" b="1" i="0" u="none" strike="noStrike" cap="none" baseline="0" dirty="0">
                <a:solidFill>
                  <a:srgbClr val="0072BC"/>
                </a:solidFill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7" name="Shape 17"/>
          <p:cNvSpPr txBox="1">
            <a:spLocks noGrp="1"/>
          </p:cNvSpPr>
          <p:nvPr>
            <p:ph type="body" idx="1"/>
          </p:nvPr>
        </p:nvSpPr>
        <p:spPr>
          <a:xfrm>
            <a:off x="458914" y="1952625"/>
            <a:ext cx="3508169" cy="4093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1577" b="0" i="0" u="none" strike="noStrike" cap="none" spc="-2" baseline="0" dirty="0">
                <a:solidFill>
                  <a:schemeClr val="dk2"/>
                </a:solidFill>
                <a:latin typeface="+mn-lt"/>
                <a:ea typeface="Arial"/>
                <a:cs typeface="Arial"/>
                <a:sym typeface="Arial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8" name="Shape 18"/>
          <p:cNvSpPr txBox="1">
            <a:spLocks noGrp="1"/>
          </p:cNvSpPr>
          <p:nvPr>
            <p:ph type="sldNum" idx="12"/>
          </p:nvPr>
        </p:nvSpPr>
        <p:spPr>
          <a:xfrm>
            <a:off x="11296612" y="6217622"/>
            <a:ext cx="731599" cy="52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ru" sz="1380" b="1" i="0" u="none" strike="noStrike" cap="none" baseline="0" smtClean="0">
                <a:solidFill>
                  <a:srgbClr val="92C5EB"/>
                </a:solidFill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defRPr>
            </a:lvl1pPr>
          </a:lstStyle>
          <a:p>
            <a:fld id="{00000000-1234-1234-1234-12341234123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Shape 17"/>
          <p:cNvSpPr txBox="1">
            <a:spLocks noGrp="1"/>
          </p:cNvSpPr>
          <p:nvPr>
            <p:ph type="body" idx="13"/>
          </p:nvPr>
        </p:nvSpPr>
        <p:spPr>
          <a:xfrm>
            <a:off x="4226722" y="1952625"/>
            <a:ext cx="3508169" cy="4093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1577" b="0" i="0" u="none" strike="noStrike" cap="none" spc="-2" baseline="0" dirty="0">
                <a:solidFill>
                  <a:schemeClr val="dk2"/>
                </a:solidFill>
                <a:latin typeface="+mn-lt"/>
                <a:ea typeface="Arial"/>
                <a:cs typeface="Arial"/>
                <a:sym typeface="Arial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9" name="Shape 17"/>
          <p:cNvSpPr txBox="1">
            <a:spLocks noGrp="1"/>
          </p:cNvSpPr>
          <p:nvPr>
            <p:ph type="body" idx="14"/>
          </p:nvPr>
        </p:nvSpPr>
        <p:spPr>
          <a:xfrm>
            <a:off x="7994375" y="1952625"/>
            <a:ext cx="3508169" cy="4093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1577" b="0" i="0" u="none" strike="noStrike" cap="none" spc="-2" baseline="0" dirty="0">
                <a:solidFill>
                  <a:schemeClr val="dk2"/>
                </a:solidFill>
                <a:latin typeface="+mn-lt"/>
                <a:ea typeface="Arial"/>
                <a:cs typeface="Arial"/>
                <a:sym typeface="Arial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586479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4" pos="7793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 txBox="1">
            <a:spLocks noGrp="1"/>
          </p:cNvSpPr>
          <p:nvPr>
            <p:ph type="title"/>
          </p:nvPr>
        </p:nvSpPr>
        <p:spPr>
          <a:xfrm>
            <a:off x="434836" y="280080"/>
            <a:ext cx="11379198" cy="1476164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4188" b="1" i="0" u="none" strike="noStrike" cap="none" baseline="0" dirty="0">
                <a:solidFill>
                  <a:srgbClr val="0072BC"/>
                </a:solidFill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7" name="Shape 17"/>
          <p:cNvSpPr txBox="1">
            <a:spLocks noGrp="1"/>
          </p:cNvSpPr>
          <p:nvPr>
            <p:ph type="body" idx="1"/>
          </p:nvPr>
        </p:nvSpPr>
        <p:spPr>
          <a:xfrm>
            <a:off x="458914" y="1952625"/>
            <a:ext cx="5317748" cy="4093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1577" b="0" i="0" u="none" strike="noStrike" cap="none" spc="-2" baseline="0" dirty="0">
                <a:solidFill>
                  <a:schemeClr val="dk2"/>
                </a:solidFill>
                <a:latin typeface="+mn-lt"/>
                <a:ea typeface="Arial"/>
                <a:cs typeface="Arial"/>
                <a:sym typeface="Arial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8" name="Shape 18"/>
          <p:cNvSpPr txBox="1">
            <a:spLocks noGrp="1"/>
          </p:cNvSpPr>
          <p:nvPr>
            <p:ph type="sldNum" idx="12"/>
          </p:nvPr>
        </p:nvSpPr>
        <p:spPr>
          <a:xfrm>
            <a:off x="11296612" y="6217622"/>
            <a:ext cx="731599" cy="52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ru" sz="1380" b="1" i="0" u="none" strike="noStrike" cap="none" baseline="0" smtClean="0">
                <a:solidFill>
                  <a:srgbClr val="92C5EB"/>
                </a:solidFill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defRPr>
            </a:lvl1pPr>
          </a:lstStyle>
          <a:p>
            <a:fld id="{00000000-1234-1234-1234-12341234123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5" name="Shape 17"/>
          <p:cNvSpPr txBox="1">
            <a:spLocks noGrp="1"/>
          </p:cNvSpPr>
          <p:nvPr>
            <p:ph type="body" idx="13"/>
          </p:nvPr>
        </p:nvSpPr>
        <p:spPr>
          <a:xfrm>
            <a:off x="6029167" y="1952625"/>
            <a:ext cx="5317748" cy="4093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1577" b="0" i="0" u="none" strike="noStrike" cap="none" spc="-2" baseline="0" dirty="0">
                <a:solidFill>
                  <a:schemeClr val="dk2"/>
                </a:solidFill>
                <a:latin typeface="+mn-lt"/>
                <a:ea typeface="Arial"/>
                <a:cs typeface="Arial"/>
                <a:sym typeface="Arial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478653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793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244069-1FDA-7851-B09A-3C1EF140D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61B2766-B980-AD6F-9AC4-F90D891635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D05DDEB-97BF-04A1-B631-26D8DDC730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225488-4D18-4DAC-B873-9C1C8705E421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C174CD6-E8F7-3581-1E24-50A3A64FF0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E6F2407-EFA9-7F29-25A0-E5A48E19D7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D66DC3-D80C-43B6-8D16-4544078C44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7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дзаголовок 1"/>
          <p:cNvSpPr>
            <a:spLocks noGrp="1"/>
          </p:cNvSpPr>
          <p:nvPr>
            <p:ph type="subTitle" idx="1"/>
          </p:nvPr>
        </p:nvSpPr>
        <p:spPr>
          <a:xfrm>
            <a:off x="1524000" y="3429000"/>
            <a:ext cx="9144000" cy="2983832"/>
          </a:xfrm>
        </p:spPr>
        <p:txBody>
          <a:bodyPr>
            <a:normAutofit fontScale="92500" lnSpcReduction="10000"/>
          </a:bodyPr>
          <a:lstStyle/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Абубакиров Владимир Андреевич</a:t>
            </a:r>
            <a:r>
              <a:rPr lang="en-US" sz="2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u-RU" sz="2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,2,3</a:t>
            </a:r>
          </a:p>
          <a:p>
            <a:r>
              <a:rPr lang="ru-RU" sz="17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Московский физико-технический институт (национальный исследовательский университет)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7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 РАН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7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ООО «</a:t>
            </a:r>
            <a:r>
              <a:rPr lang="ru-RU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Техкомпания</a:t>
            </a:r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Хуавэй»</a:t>
            </a:r>
          </a:p>
          <a:p>
            <a:endParaRPr lang="ru-RU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Апреля 2026г.</a:t>
            </a:r>
          </a:p>
          <a:p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Применение многопоточного кольцевого буфера для организации высокоскоростного обмена диагностической информацией в среде виртуализации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0278" y="556266"/>
            <a:ext cx="1203349" cy="364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198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Заголовок 1"/>
          <p:cNvSpPr>
            <a:spLocks noGrp="1"/>
          </p:cNvSpPr>
          <p:nvPr>
            <p:ph type="title"/>
          </p:nvPr>
        </p:nvSpPr>
        <p:spPr>
          <a:xfrm>
            <a:off x="435222" y="325740"/>
            <a:ext cx="11379198" cy="1454759"/>
          </a:xfrm>
        </p:spPr>
        <p:txBody>
          <a:bodyPr>
            <a:norm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</a:t>
            </a:r>
          </a:p>
        </p:txBody>
      </p:sp>
      <p:sp>
        <p:nvSpPr>
          <p:cNvPr id="27" name="Текст 2"/>
          <p:cNvSpPr txBox="1">
            <a:spLocks/>
          </p:cNvSpPr>
          <p:nvPr/>
        </p:nvSpPr>
        <p:spPr>
          <a:xfrm>
            <a:off x="458915" y="4180989"/>
            <a:ext cx="11043629" cy="2263976"/>
          </a:xfrm>
          <a:prstGeom prst="rect">
            <a:avLst/>
          </a:prstGeom>
          <a:noFill/>
          <a:ln>
            <a:noFill/>
          </a:ln>
        </p:spPr>
        <p:txBody>
          <a:bodyPr lIns="45050" tIns="45050" rIns="45050" bIns="45050" anchor="t" anchorCtr="0"/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None/>
              <a:defRPr sz="3200" b="0" i="0" u="none" strike="noStrike" cap="none" spc="-5" baseline="0" dirty="0">
                <a:solidFill>
                  <a:schemeClr val="dk2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R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None/>
              <a:defRPr sz="3733" b="0" i="0" u="none" strike="noStrike" cap="none" baseline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None/>
              <a:defRPr sz="3733" b="0" i="0" u="none" strike="noStrike" cap="none" baseline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None/>
              <a:defRPr sz="3733" b="0" i="0" u="none" strike="noStrike" cap="none" baseline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None/>
              <a:defRPr sz="3733" b="0" i="0" u="none" strike="noStrike" cap="none" baseline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None/>
              <a:defRPr sz="3733" b="0" i="0" u="none" strike="noStrike" cap="none" baseline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None/>
              <a:defRPr sz="3733" b="0" i="0" u="none" strike="noStrike" cap="none" baseline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None/>
              <a:defRPr sz="3733" b="0" i="0" u="none" strike="noStrike" cap="none" baseline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None/>
              <a:defRPr sz="3733" b="0" i="0" u="none" strike="noStrike" cap="none" baseline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2400" spc="-2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Ключевые требования: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spc="-2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низкая задержка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spc="-2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высокая пропускная способность</a:t>
            </a:r>
            <a:endParaRPr lang="en-US" sz="2400" spc="-2" dirty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577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4" name="Номер слайда 2"/>
          <p:cNvSpPr>
            <a:spLocks noGrp="1"/>
          </p:cNvSpPr>
          <p:nvPr>
            <p:ph type="sldNum" idx="12"/>
          </p:nvPr>
        </p:nvSpPr>
        <p:spPr>
          <a:xfrm>
            <a:off x="11296612" y="6177186"/>
            <a:ext cx="731599" cy="517190"/>
          </a:xfrm>
        </p:spPr>
        <p:txBody>
          <a:bodyPr/>
          <a:lstStyle/>
          <a:p>
            <a:pPr algn="r"/>
            <a:fld id="{1FEF3AF8-FF82-4B53-9863-FE7717B11AF3}" type="slidenum">
              <a:rPr lang="en-US"/>
              <a:t>2</a:t>
            </a:fld>
            <a:endParaRPr lang="ru" dirty="0"/>
          </a:p>
        </p:txBody>
      </p:sp>
      <p:sp>
        <p:nvSpPr>
          <p:cNvPr id="21" name="Текст 2"/>
          <p:cNvSpPr>
            <a:spLocks noGrp="1"/>
          </p:cNvSpPr>
          <p:nvPr>
            <p:ph type="body" idx="1"/>
          </p:nvPr>
        </p:nvSpPr>
        <p:spPr>
          <a:xfrm>
            <a:off x="458915" y="1974033"/>
            <a:ext cx="6575079" cy="2058160"/>
          </a:xfrm>
        </p:spPr>
        <p:txBody>
          <a:bodyPr>
            <a:normAutofit/>
          </a:bodyPr>
          <a:lstStyle/>
          <a:p>
            <a:r>
              <a:rPr lang="ru-RU" sz="24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Технологии виртуализации активно используются как </a:t>
            </a:r>
            <a:r>
              <a:rPr lang="ru-RU" sz="24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обычными пользователями</a:t>
            </a:r>
            <a:r>
              <a:rPr lang="ru-RU" sz="24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так и в </a:t>
            </a:r>
            <a:r>
              <a:rPr lang="ru-RU" sz="24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промышленном секторе</a:t>
            </a:r>
            <a:endParaRPr lang="en-US" sz="2400" b="1" dirty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chemeClr val="accent3">
                  <a:lumMod val="75000"/>
                </a:schemeClr>
              </a:solidFill>
              <a:latin typeface="Franklin Gothic Book" panose="020B0503020102020204" pitchFamily="34" charset="0"/>
            </a:endParaRPr>
          </a:p>
          <a:p>
            <a:endParaRPr lang="ru-RU" dirty="0"/>
          </a:p>
        </p:txBody>
      </p:sp>
      <p:sp>
        <p:nvSpPr>
          <p:cNvPr id="26" name="Текст 5"/>
          <p:cNvSpPr>
            <a:spLocks noGrp="1"/>
          </p:cNvSpPr>
          <p:nvPr>
            <p:ph type="body" idx="14"/>
          </p:nvPr>
        </p:nvSpPr>
        <p:spPr>
          <a:xfrm>
            <a:off x="7994375" y="1974033"/>
            <a:ext cx="3508169" cy="2058160"/>
          </a:xfrm>
        </p:spPr>
        <p:txBody>
          <a:bodyPr>
            <a:normAutofit/>
          </a:bodyPr>
          <a:lstStyle/>
          <a:p>
            <a:pPr>
              <a:spcAft>
                <a:spcPts val="394"/>
              </a:spcAft>
            </a:pPr>
            <a:r>
              <a:rPr lang="ru-RU" sz="24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Развитие</a:t>
            </a:r>
            <a:r>
              <a:rPr lang="ru-RU" b="1" spc="6" dirty="0">
                <a:solidFill>
                  <a:srgbClr val="7C7C7C">
                    <a:lumMod val="50000"/>
                  </a:srgbClr>
                </a:solidFill>
                <a:latin typeface="Arial Black"/>
                <a:cs typeface="Segoe UI" panose="020B0502040204020203" pitchFamily="34" charset="0"/>
              </a:rPr>
              <a:t> </a:t>
            </a:r>
            <a:r>
              <a:rPr lang="ru-RU" sz="24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технологий </a:t>
            </a:r>
            <a:r>
              <a:rPr lang="ru-RU" sz="24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искусственного интеллекта</a:t>
            </a:r>
            <a:endParaRPr lang="en-US" sz="2400" b="1" dirty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Обзор аналогов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8914" y="1952625"/>
            <a:ext cx="5317748" cy="1476164"/>
          </a:xfrm>
        </p:spPr>
        <p:txBody>
          <a:bodyPr/>
          <a:lstStyle/>
          <a:p>
            <a:endParaRPr lang="en-US" dirty="0">
              <a:solidFill>
                <a:schemeClr val="accent3">
                  <a:lumMod val="75000"/>
                </a:schemeClr>
              </a:solidFill>
            </a:endParaRPr>
          </a:p>
          <a:p>
            <a:pPr algn="just"/>
            <a:r>
              <a:rPr lang="en-US" sz="2400" dirty="0" err="1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virtio</a:t>
            </a:r>
            <a:r>
              <a:rPr lang="en-US" sz="24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-sock</a:t>
            </a:r>
          </a:p>
          <a:p>
            <a:pPr algn="just"/>
            <a:r>
              <a:rPr lang="en-US" sz="2400" dirty="0" err="1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virtio</a:t>
            </a:r>
            <a:r>
              <a:rPr lang="en-US" sz="24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-serial</a:t>
            </a:r>
            <a:endParaRPr lang="ru-RU" sz="2400" dirty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  <a:pPr/>
              <a:t>3</a:t>
            </a:fld>
            <a:endParaRPr lang="ru-RU" dirty="0"/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1FC98E91-1420-3467-4026-66973A4DDF52}"/>
              </a:ext>
            </a:extLst>
          </p:cNvPr>
          <p:cNvGrpSpPr/>
          <p:nvPr/>
        </p:nvGrpSpPr>
        <p:grpSpPr>
          <a:xfrm>
            <a:off x="6307636" y="2108825"/>
            <a:ext cx="3580466" cy="1319964"/>
            <a:chOff x="19306037" y="1529408"/>
            <a:chExt cx="3059702" cy="4247250"/>
          </a:xfrm>
        </p:grpSpPr>
        <p:sp>
          <p:nvSpPr>
            <p:cNvPr id="11" name="Прямоугольная выноска 31">
              <a:extLst>
                <a:ext uri="{FF2B5EF4-FFF2-40B4-BE49-F238E27FC236}">
                  <a16:creationId xmlns:a16="http://schemas.microsoft.com/office/drawing/2014/main" id="{1C2FD276-E714-8B40-260B-149CDAAC8839}"/>
                </a:ext>
              </a:extLst>
            </p:cNvPr>
            <p:cNvSpPr/>
            <p:nvPr/>
          </p:nvSpPr>
          <p:spPr>
            <a:xfrm>
              <a:off x="19306037" y="1529408"/>
              <a:ext cx="3059702" cy="4247250"/>
            </a:xfrm>
            <a:prstGeom prst="wedgeRectCallout">
              <a:avLst>
                <a:gd name="adj1" fmla="val -59375"/>
                <a:gd name="adj2" fmla="val -33475"/>
              </a:avLst>
            </a:prstGeom>
            <a:solidFill>
              <a:srgbClr val="9BFF7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3C53A5B-0E5F-71AE-8706-C9DE14C1AF38}"/>
                </a:ext>
              </a:extLst>
            </p:cNvPr>
            <p:cNvSpPr txBox="1"/>
            <p:nvPr/>
          </p:nvSpPr>
          <p:spPr>
            <a:xfrm>
              <a:off x="19486891" y="1869188"/>
              <a:ext cx="2773341" cy="3862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ru-RU" sz="2400" dirty="0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Неэффективны при работе с несколькими ВМ</a:t>
              </a:r>
              <a:endParaRPr lang="ru-RU" sz="24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3" name="Текст 2">
            <a:extLst>
              <a:ext uri="{FF2B5EF4-FFF2-40B4-BE49-F238E27FC236}">
                <a16:creationId xmlns:a16="http://schemas.microsoft.com/office/drawing/2014/main" id="{4AF95783-2E47-8DEE-98E8-DED80A41E965}"/>
              </a:ext>
            </a:extLst>
          </p:cNvPr>
          <p:cNvSpPr txBox="1">
            <a:spLocks/>
          </p:cNvSpPr>
          <p:nvPr/>
        </p:nvSpPr>
        <p:spPr>
          <a:xfrm>
            <a:off x="458914" y="4234614"/>
            <a:ext cx="5317748" cy="1476164"/>
          </a:xfrm>
          <a:prstGeom prst="rect">
            <a:avLst/>
          </a:prstGeom>
        </p:spPr>
        <p:txBody>
          <a:bodyPr vert="horz" lIns="91425" tIns="91425" rIns="91425" bIns="91425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577" b="0" i="0" u="none" strike="noStrike" kern="1200" cap="none" spc="-2" baseline="0" dirty="0">
                <a:solidFill>
                  <a:schemeClr val="dk2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accent3">
                  <a:lumMod val="75000"/>
                </a:schemeClr>
              </a:solidFill>
            </a:endParaRPr>
          </a:p>
          <a:p>
            <a:pPr algn="just"/>
            <a:r>
              <a:rPr lang="ru-RU" sz="24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облачные сервисы</a:t>
            </a:r>
            <a:endParaRPr lang="en-US" sz="2400" dirty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4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отдельная выделенная ВМ</a:t>
            </a:r>
          </a:p>
        </p:txBody>
      </p: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07495F81-CD89-2864-A5B6-A548AEA4C40D}"/>
              </a:ext>
            </a:extLst>
          </p:cNvPr>
          <p:cNvGrpSpPr/>
          <p:nvPr/>
        </p:nvGrpSpPr>
        <p:grpSpPr>
          <a:xfrm>
            <a:off x="6307636" y="4441775"/>
            <a:ext cx="3580466" cy="1319964"/>
            <a:chOff x="19306037" y="1529408"/>
            <a:chExt cx="3059702" cy="4247250"/>
          </a:xfrm>
        </p:grpSpPr>
        <p:sp>
          <p:nvSpPr>
            <p:cNvPr id="15" name="Прямоугольная выноска 31">
              <a:extLst>
                <a:ext uri="{FF2B5EF4-FFF2-40B4-BE49-F238E27FC236}">
                  <a16:creationId xmlns:a16="http://schemas.microsoft.com/office/drawing/2014/main" id="{B0549B0D-D48F-52FA-0221-AD8888B2E0E1}"/>
                </a:ext>
              </a:extLst>
            </p:cNvPr>
            <p:cNvSpPr/>
            <p:nvPr/>
          </p:nvSpPr>
          <p:spPr>
            <a:xfrm>
              <a:off x="19306037" y="1529408"/>
              <a:ext cx="3059702" cy="4247250"/>
            </a:xfrm>
            <a:prstGeom prst="wedgeRectCallout">
              <a:avLst>
                <a:gd name="adj1" fmla="val -59375"/>
                <a:gd name="adj2" fmla="val -33475"/>
              </a:avLst>
            </a:prstGeom>
            <a:solidFill>
              <a:srgbClr val="9BFF7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8672794-1E37-3ABF-7D65-258348FD086E}"/>
                </a:ext>
              </a:extLst>
            </p:cNvPr>
            <p:cNvSpPr txBox="1"/>
            <p:nvPr/>
          </p:nvSpPr>
          <p:spPr>
            <a:xfrm>
              <a:off x="19449218" y="2316081"/>
              <a:ext cx="2773341" cy="26739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ru-RU" sz="2400" dirty="0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Слишком тяжеловесные решения</a:t>
              </a:r>
              <a:endParaRPr lang="ru-RU" sz="24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904077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9085C-1A82-7541-F641-A4EFE222E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70F8EA-18CD-494E-8487-A54CDA813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работы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0D64992-4309-9100-DC10-D3C3FC4F811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  <a:pPr/>
              <a:t>4</a:t>
            </a:fld>
            <a:endParaRPr lang="ru-RU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D3E449A3-A42E-E5D8-3263-8370F842F1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8914" y="1952625"/>
            <a:ext cx="11355120" cy="40937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комплекса программных компонентов для организации высокоскоростной передачи диагностических информации в среде виртуализации.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7600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FD636-20A9-F76A-6F04-6F696A724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BDBE71-9B24-A4DD-7B86-1D6B23EE9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 работы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DE69744-8D24-A3EC-EA60-8F619B639C6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  <a:pPr/>
              <a:t>5</a:t>
            </a:fld>
            <a:endParaRPr lang="ru-RU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CA99A2-B331-9BFA-BCC9-D3F1F9FE25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8914" y="1952625"/>
            <a:ext cx="11355120" cy="4093700"/>
          </a:xfrm>
        </p:spPr>
        <p:txBody>
          <a:bodyPr>
            <a:normAutofit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Реализация многопоточного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 producer – single consumer (MPSC)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буфера без блокировок.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виртуального устройства в эмуляторе.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интерфейса в гостевых системах для взаимодействия с буфером (драйвер).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19802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 решения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8914" y="1952625"/>
            <a:ext cx="3691981" cy="4093700"/>
          </a:xfrm>
        </p:spPr>
        <p:txBody>
          <a:bodyPr/>
          <a:lstStyle/>
          <a:p>
            <a:endParaRPr lang="en-US" dirty="0">
              <a:solidFill>
                <a:schemeClr val="accent3">
                  <a:lumMod val="75000"/>
                </a:schemeClr>
              </a:solidFill>
            </a:endParaRPr>
          </a:p>
          <a:p>
            <a:endParaRPr lang="ru-RU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  <a:pPr/>
              <a:t>6</a:t>
            </a:fld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4562881-79DB-390A-BC61-7B291B00F9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5035" y="2322859"/>
            <a:ext cx="6014239" cy="306907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AFBC06-119B-85A7-203F-458DCD356303}"/>
              </a:ext>
            </a:extLst>
          </p:cNvPr>
          <p:cNvSpPr txBox="1"/>
          <p:nvPr/>
        </p:nvSpPr>
        <p:spPr>
          <a:xfrm>
            <a:off x="458914" y="1952625"/>
            <a:ext cx="507612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Виртуальное устройство – приёмник сообщений и хранилище метаинформации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UEFI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драйвер – инициализация буфера на первых этапах работы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Драйвер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 –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инициализации получает адрес буфера и служит интерфейсом для взаимодействия с ним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85492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A0D93-A9AD-3D9B-9BC7-99CFF651D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E494D2-538E-4372-09CF-C896C550D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Организация общей памяти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B5F3310-12F6-1494-97B5-09FC68FB2B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8914" y="1952625"/>
            <a:ext cx="3691981" cy="4093700"/>
          </a:xfrm>
        </p:spPr>
        <p:txBody>
          <a:bodyPr/>
          <a:lstStyle/>
          <a:p>
            <a:endParaRPr lang="en-US" dirty="0">
              <a:solidFill>
                <a:schemeClr val="accent3">
                  <a:lumMod val="75000"/>
                </a:schemeClr>
              </a:solidFill>
            </a:endParaRPr>
          </a:p>
          <a:p>
            <a:endParaRPr lang="ru-RU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BF26A25-AB48-93F8-F926-3629150893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  <a:pPr/>
              <a:t>7</a:t>
            </a:fld>
            <a:endParaRPr lang="ru-R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7499E1-0BF0-9B5D-B2C8-6B740D9138F2}"/>
              </a:ext>
            </a:extLst>
          </p:cNvPr>
          <p:cNvSpPr txBox="1"/>
          <p:nvPr/>
        </p:nvSpPr>
        <p:spPr>
          <a:xfrm>
            <a:off x="458914" y="1952625"/>
            <a:ext cx="5076121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Указатель на позицию читателя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Указатель на позицию писателя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Флаг переполнения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SHADOW_POS –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счётчик активных писателей + позиция резервирования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Буфер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7D350B2-D602-02EE-2457-3449077963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8098" y="1414181"/>
            <a:ext cx="3267531" cy="4029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7338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1ACE5-CB8F-B0D2-11D8-5BABB5E3A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2AF092-8D50-6185-52C8-3075B1A47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Организация общей памяти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413B3B6-1CBE-9F80-2AF2-40B06E2886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8914" y="1952625"/>
            <a:ext cx="3691981" cy="4093700"/>
          </a:xfrm>
        </p:spPr>
        <p:txBody>
          <a:bodyPr/>
          <a:lstStyle/>
          <a:p>
            <a:endParaRPr lang="en-US" dirty="0">
              <a:solidFill>
                <a:schemeClr val="accent3">
                  <a:lumMod val="75000"/>
                </a:schemeClr>
              </a:solidFill>
            </a:endParaRPr>
          </a:p>
          <a:p>
            <a:endParaRPr lang="ru-RU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406AF79-C123-A94D-FA5E-1E8A5273B4F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  <a:pPr/>
              <a:t>8</a:t>
            </a:fld>
            <a:endParaRPr lang="ru-R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D35F79-BDAC-FF3A-F840-67F5E8A6683A}"/>
              </a:ext>
            </a:extLst>
          </p:cNvPr>
          <p:cNvSpPr txBox="1"/>
          <p:nvPr/>
        </p:nvSpPr>
        <p:spPr>
          <a:xfrm>
            <a:off x="434836" y="2258169"/>
            <a:ext cx="484701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Каждый поток перед копированием сообщения:</a:t>
            </a:r>
          </a:p>
          <a:p>
            <a:pPr marL="342900" indent="-342900" algn="just"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Создает собственную копию глобального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ShWPos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Пытается обновить глобальную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ShWPos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увеличивая количество активных писателей и смещение позиции резервирования на размер сообщения.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64E27-13BA-4C9F-F24D-D7DCBB2995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665" y="1756244"/>
            <a:ext cx="6246421" cy="4420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7531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4479E-BDF5-E36C-7D77-EF8623040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78795C-D5AF-12A6-ED4C-F07F64B35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Организация общей памяти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1DED9C3-357F-54BE-2013-0C9D0C8C35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8914" y="1952625"/>
            <a:ext cx="3691981" cy="4093700"/>
          </a:xfrm>
        </p:spPr>
        <p:txBody>
          <a:bodyPr/>
          <a:lstStyle/>
          <a:p>
            <a:endParaRPr lang="en-US" dirty="0">
              <a:solidFill>
                <a:schemeClr val="accent3">
                  <a:lumMod val="75000"/>
                </a:schemeClr>
              </a:solidFill>
            </a:endParaRPr>
          </a:p>
          <a:p>
            <a:endParaRPr lang="ru-RU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4036BF3-8885-B080-A204-BCD07AF99DB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  <a:pPr/>
              <a:t>9</a:t>
            </a:fld>
            <a:endParaRPr lang="ru-R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B58C0F-F23D-62A3-DE0C-0C2C285433BD}"/>
              </a:ext>
            </a:extLst>
          </p:cNvPr>
          <p:cNvSpPr txBox="1"/>
          <p:nvPr/>
        </p:nvSpPr>
        <p:spPr>
          <a:xfrm>
            <a:off x="377966" y="1905506"/>
            <a:ext cx="517186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Каждый поток после копирования сообщения:</a:t>
            </a:r>
          </a:p>
          <a:p>
            <a:pPr marL="342900" indent="-342900" algn="just"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Атомарно уменьшает счётчик активных писателей.</a:t>
            </a:r>
          </a:p>
          <a:p>
            <a:pPr marL="342900" indent="-342900" algn="just"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счётчике равном нулю (если все потоки ДО текущего закончили копирование) обновляется глобальный указатель писателя.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859B04D-0CCD-CF68-BA41-22C1628F7B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7535" y="1756244"/>
            <a:ext cx="6016499" cy="409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0128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E1DF7-BFE9-38C0-E1FB-694C97D65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B2B10B-DF5B-9827-7364-969898947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Альтернативные решения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E57CA4B-885D-D73B-B6E0-76E90C12DD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8914" y="1952625"/>
            <a:ext cx="3691981" cy="4093700"/>
          </a:xfrm>
        </p:spPr>
        <p:txBody>
          <a:bodyPr/>
          <a:lstStyle/>
          <a:p>
            <a:endParaRPr lang="en-US" dirty="0">
              <a:solidFill>
                <a:schemeClr val="accent3">
                  <a:lumMod val="75000"/>
                </a:schemeClr>
              </a:solidFill>
            </a:endParaRPr>
          </a:p>
          <a:p>
            <a:endParaRPr lang="ru-RU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9686F40-0A4C-3D7B-903C-B57377D1AF1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  <a:pPr/>
              <a:t>10</a:t>
            </a:fld>
            <a:endParaRPr lang="ru-R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0354D7-DD09-690F-1469-9A7D868A5342}"/>
              </a:ext>
            </a:extLst>
          </p:cNvPr>
          <p:cNvSpPr txBox="1"/>
          <p:nvPr/>
        </p:nvSpPr>
        <p:spPr>
          <a:xfrm>
            <a:off x="377966" y="1905506"/>
            <a:ext cx="114360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eBPF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(в операционной системе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Linux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используется схожий буфер, использующий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спинлоки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синхронизации.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D68941EF-2F34-C9F2-121E-B8E6695FE309}"/>
              </a:ext>
            </a:extLst>
          </p:cNvPr>
          <p:cNvGrpSpPr/>
          <p:nvPr/>
        </p:nvGrpSpPr>
        <p:grpSpPr>
          <a:xfrm>
            <a:off x="7425156" y="4459704"/>
            <a:ext cx="3580466" cy="1319964"/>
            <a:chOff x="19306037" y="1529408"/>
            <a:chExt cx="3059702" cy="4247250"/>
          </a:xfrm>
        </p:grpSpPr>
        <p:sp>
          <p:nvSpPr>
            <p:cNvPr id="6" name="Прямоугольная выноска 31">
              <a:extLst>
                <a:ext uri="{FF2B5EF4-FFF2-40B4-BE49-F238E27FC236}">
                  <a16:creationId xmlns:a16="http://schemas.microsoft.com/office/drawing/2014/main" id="{9BD24F64-4076-5808-E25A-D152029A903A}"/>
                </a:ext>
              </a:extLst>
            </p:cNvPr>
            <p:cNvSpPr/>
            <p:nvPr/>
          </p:nvSpPr>
          <p:spPr>
            <a:xfrm>
              <a:off x="19306037" y="1529408"/>
              <a:ext cx="3059702" cy="4247250"/>
            </a:xfrm>
            <a:prstGeom prst="wedgeRectCallout">
              <a:avLst>
                <a:gd name="adj1" fmla="val -59375"/>
                <a:gd name="adj2" fmla="val -33475"/>
              </a:avLst>
            </a:prstGeom>
            <a:solidFill>
              <a:srgbClr val="9BFF7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ECB22D4-37D5-DBC1-51F3-E88B813187C3}"/>
                </a:ext>
              </a:extLst>
            </p:cNvPr>
            <p:cNvSpPr txBox="1"/>
            <p:nvPr/>
          </p:nvSpPr>
          <p:spPr>
            <a:xfrm>
              <a:off x="19449218" y="1721881"/>
              <a:ext cx="2773341" cy="3862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dirty="0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Влечёт недетерминированные задержки</a:t>
              </a:r>
              <a:endParaRPr lang="ru-RU" sz="24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2E892FA6-93A0-D001-BE00-2FC51E4617B8}"/>
              </a:ext>
            </a:extLst>
          </p:cNvPr>
          <p:cNvGrpSpPr/>
          <p:nvPr/>
        </p:nvGrpSpPr>
        <p:grpSpPr>
          <a:xfrm>
            <a:off x="803777" y="4459705"/>
            <a:ext cx="3580466" cy="1319964"/>
            <a:chOff x="19306037" y="1529408"/>
            <a:chExt cx="3059702" cy="4247250"/>
          </a:xfrm>
        </p:grpSpPr>
        <p:sp>
          <p:nvSpPr>
            <p:cNvPr id="10" name="Прямоугольная выноска 31">
              <a:extLst>
                <a:ext uri="{FF2B5EF4-FFF2-40B4-BE49-F238E27FC236}">
                  <a16:creationId xmlns:a16="http://schemas.microsoft.com/office/drawing/2014/main" id="{58668C92-6D49-FC3B-568F-BD327C6F5CEC}"/>
                </a:ext>
              </a:extLst>
            </p:cNvPr>
            <p:cNvSpPr/>
            <p:nvPr/>
          </p:nvSpPr>
          <p:spPr>
            <a:xfrm>
              <a:off x="19306037" y="1529408"/>
              <a:ext cx="3059702" cy="4247250"/>
            </a:xfrm>
            <a:prstGeom prst="wedgeRectCallout">
              <a:avLst>
                <a:gd name="adj1" fmla="val -59375"/>
                <a:gd name="adj2" fmla="val -33475"/>
              </a:avLst>
            </a:prstGeom>
            <a:solidFill>
              <a:srgbClr val="9BFF7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A060AE9-296A-0F8E-9F1A-8F6E82C10823}"/>
                </a:ext>
              </a:extLst>
            </p:cNvPr>
            <p:cNvSpPr txBox="1"/>
            <p:nvPr/>
          </p:nvSpPr>
          <p:spPr>
            <a:xfrm>
              <a:off x="19449218" y="1721881"/>
              <a:ext cx="2773341" cy="3862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dirty="0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Не позволяет отобразить буфер в память процесса</a:t>
              </a:r>
              <a:endParaRPr lang="ru-RU" sz="24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647636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D639F-9AB7-FD7E-A46A-4AC977A45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36F313-1A63-3F28-6449-9052D2F0C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Выводы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F4C7B97-8551-F412-0381-58B78B6AAE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8914" y="1952625"/>
            <a:ext cx="3691981" cy="4093700"/>
          </a:xfrm>
        </p:spPr>
        <p:txBody>
          <a:bodyPr/>
          <a:lstStyle/>
          <a:p>
            <a:endParaRPr lang="en-US" dirty="0">
              <a:solidFill>
                <a:schemeClr val="accent3">
                  <a:lumMod val="75000"/>
                </a:schemeClr>
              </a:solidFill>
            </a:endParaRPr>
          </a:p>
          <a:p>
            <a:endParaRPr lang="ru-RU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0622C0B-6BCE-4F75-CE5D-BC522F6FE4F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  <a:pPr/>
              <a:t>11</a:t>
            </a:fld>
            <a:endParaRPr lang="ru-R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1140E4-EEB1-C811-F7B2-D626142BF4EC}"/>
              </a:ext>
            </a:extLst>
          </p:cNvPr>
          <p:cNvSpPr txBox="1"/>
          <p:nvPr/>
        </p:nvSpPr>
        <p:spPr>
          <a:xfrm>
            <a:off x="377966" y="1905506"/>
            <a:ext cx="1143606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 однонаправленный канал для обмена диагностической информацией, основанный на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кольцевом буфере в общей памяти без блокировок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Минимизировано влияние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диагностических инструментов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временные характеристики соседних виртуальных машин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076347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</TotalTime>
  <Words>323</Words>
  <Application>Microsoft Office PowerPoint</Application>
  <PresentationFormat>Широкоэкранный</PresentationFormat>
  <Paragraphs>65</Paragraphs>
  <Slides>11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9" baseType="lpstr">
      <vt:lpstr>Arial</vt:lpstr>
      <vt:lpstr>Arial Black</vt:lpstr>
      <vt:lpstr>Calibri</vt:lpstr>
      <vt:lpstr>Calibri Light</vt:lpstr>
      <vt:lpstr>Franklin Gothic Book</vt:lpstr>
      <vt:lpstr>Segoe UI</vt:lpstr>
      <vt:lpstr>Times New Roman</vt:lpstr>
      <vt:lpstr>Тема Office</vt:lpstr>
      <vt:lpstr>Применение многопоточного кольцевого буфера для организации высокоскоростного обмена диагностической информацией в среде виртуализации</vt:lpstr>
      <vt:lpstr>Актуальность</vt:lpstr>
      <vt:lpstr>Обзор аналогов</vt:lpstr>
      <vt:lpstr>Цель работы</vt:lpstr>
      <vt:lpstr>Задачи работы</vt:lpstr>
      <vt:lpstr>Архитектура решения</vt:lpstr>
      <vt:lpstr>Организация общей памяти</vt:lpstr>
      <vt:lpstr>Организация общей памяти</vt:lpstr>
      <vt:lpstr>Организация общей памяти</vt:lpstr>
      <vt:lpstr>Альтернативные решения</vt:lpstr>
      <vt:lpstr>Выводы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Владимир Абубакиров</dc:creator>
  <cp:lastModifiedBy>Владимир Абубакиров</cp:lastModifiedBy>
  <cp:revision>12</cp:revision>
  <dcterms:created xsi:type="dcterms:W3CDTF">2026-03-30T13:54:10Z</dcterms:created>
  <dcterms:modified xsi:type="dcterms:W3CDTF">2026-03-30T18:09:46Z</dcterms:modified>
</cp:coreProperties>
</file>